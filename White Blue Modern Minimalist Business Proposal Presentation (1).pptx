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 Bold" panose="020B0604020202020204" charset="0"/>
      <p:regular r:id="rId12"/>
    </p:embeddedFont>
    <p:embeddedFont>
      <p:font typeface="Dynamo Medium" panose="020B0604020202020204" charset="0"/>
      <p:regular r:id="rId13"/>
    </p:embeddedFont>
    <p:embeddedFont>
      <p:font typeface="Source Sans Pro" panose="020B0503030403020204" pitchFamily="34" charset="0"/>
      <p:regular r:id="rId14"/>
    </p:embeddedFont>
    <p:embeddedFont>
      <p:font typeface="Source Sans Pr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569820" y="-1147527"/>
            <a:ext cx="11434572" cy="11434527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95383" y="8366125"/>
            <a:ext cx="7009358" cy="1262426"/>
            <a:chOff x="0" y="0"/>
            <a:chExt cx="9345810" cy="168323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345810" cy="1396165"/>
              <a:chOff x="0" y="0"/>
              <a:chExt cx="1250766" cy="1868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9899" y="0"/>
                <a:ext cx="1210968" cy="186851"/>
              </a:xfrm>
              <a:custGeom>
                <a:avLst/>
                <a:gdLst/>
                <a:ahLst/>
                <a:cxnLst/>
                <a:rect l="l" t="t" r="r" b="b"/>
                <a:pathLst>
                  <a:path w="1210968" h="186851">
                    <a:moveTo>
                      <a:pt x="217705" y="0"/>
                    </a:moveTo>
                    <a:lnTo>
                      <a:pt x="1196463" y="0"/>
                    </a:lnTo>
                    <a:cubicBezTo>
                      <a:pt x="1201991" y="0"/>
                      <a:pt x="1206952" y="3391"/>
                      <a:pt x="1208960" y="8541"/>
                    </a:cubicBezTo>
                    <a:cubicBezTo>
                      <a:pt x="1210968" y="13691"/>
                      <a:pt x="1209611" y="19546"/>
                      <a:pt x="1205542" y="23287"/>
                    </a:cubicBezTo>
                    <a:lnTo>
                      <a:pt x="1052992" y="163564"/>
                    </a:lnTo>
                    <a:cubicBezTo>
                      <a:pt x="1036706" y="178540"/>
                      <a:pt x="1015388" y="186851"/>
                      <a:pt x="993263" y="186851"/>
                    </a:cubicBezTo>
                    <a:lnTo>
                      <a:pt x="14505" y="186851"/>
                    </a:lnTo>
                    <a:cubicBezTo>
                      <a:pt x="8977" y="186851"/>
                      <a:pt x="4016" y="183460"/>
                      <a:pt x="2008" y="178310"/>
                    </a:cubicBezTo>
                    <a:cubicBezTo>
                      <a:pt x="0" y="173160"/>
                      <a:pt x="1357" y="167305"/>
                      <a:pt x="5426" y="163564"/>
                    </a:cubicBezTo>
                    <a:lnTo>
                      <a:pt x="157976" y="23287"/>
                    </a:lnTo>
                    <a:cubicBezTo>
                      <a:pt x="174262" y="8311"/>
                      <a:pt x="195580" y="0"/>
                      <a:pt x="217705" y="0"/>
                    </a:cubicBezTo>
                    <a:close/>
                  </a:path>
                </a:pathLst>
              </a:custGeom>
              <a:solidFill>
                <a:srgbClr val="3275C5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19050"/>
                <a:ext cx="1047566" cy="1678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451974" y="1056868"/>
              <a:ext cx="4192850" cy="626367"/>
              <a:chOff x="0" y="0"/>
              <a:chExt cx="1250766" cy="1868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3344" y="0"/>
                <a:ext cx="1204077" cy="186851"/>
              </a:xfrm>
              <a:custGeom>
                <a:avLst/>
                <a:gdLst/>
                <a:ahLst/>
                <a:cxnLst/>
                <a:rect l="l" t="t" r="r" b="b"/>
                <a:pathLst>
                  <a:path w="1204077" h="186851">
                    <a:moveTo>
                      <a:pt x="220217" y="0"/>
                    </a:moveTo>
                    <a:lnTo>
                      <a:pt x="1187061" y="0"/>
                    </a:lnTo>
                    <a:cubicBezTo>
                      <a:pt x="1193546" y="0"/>
                      <a:pt x="1199366" y="3978"/>
                      <a:pt x="1201722" y="10020"/>
                    </a:cubicBezTo>
                    <a:cubicBezTo>
                      <a:pt x="1204078" y="16062"/>
                      <a:pt x="1202486" y="22930"/>
                      <a:pt x="1197712" y="27319"/>
                    </a:cubicBezTo>
                    <a:lnTo>
                      <a:pt x="1053932" y="159532"/>
                    </a:lnTo>
                    <a:cubicBezTo>
                      <a:pt x="1034826" y="177101"/>
                      <a:pt x="1009817" y="186851"/>
                      <a:pt x="983861" y="186851"/>
                    </a:cubicBezTo>
                    <a:lnTo>
                      <a:pt x="17017" y="186851"/>
                    </a:lnTo>
                    <a:cubicBezTo>
                      <a:pt x="10532" y="186851"/>
                      <a:pt x="4712" y="182873"/>
                      <a:pt x="2356" y="176831"/>
                    </a:cubicBezTo>
                    <a:cubicBezTo>
                      <a:pt x="0" y="170789"/>
                      <a:pt x="1592" y="163921"/>
                      <a:pt x="6366" y="159532"/>
                    </a:cubicBezTo>
                    <a:lnTo>
                      <a:pt x="150146" y="27319"/>
                    </a:lnTo>
                    <a:cubicBezTo>
                      <a:pt x="169252" y="9751"/>
                      <a:pt x="194261" y="0"/>
                      <a:pt x="220217" y="0"/>
                    </a:cubicBezTo>
                    <a:close/>
                  </a:path>
                </a:pathLst>
              </a:custGeom>
              <a:solidFill>
                <a:srgbClr val="64CAF4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19050"/>
                <a:ext cx="1047566" cy="1678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3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2593007" y="2954338"/>
            <a:ext cx="7577678" cy="421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8C52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HEALTH COACH APPLICATION SYSTEM </a:t>
            </a:r>
          </a:p>
        </p:txBody>
      </p:sp>
      <p:sp>
        <p:nvSpPr>
          <p:cNvPr id="12" name="Freeform 12"/>
          <p:cNvSpPr/>
          <p:nvPr/>
        </p:nvSpPr>
        <p:spPr>
          <a:xfrm rot="5808836">
            <a:off x="-7099776" y="1223191"/>
            <a:ext cx="12716270" cy="6635581"/>
          </a:xfrm>
          <a:custGeom>
            <a:avLst/>
            <a:gdLst/>
            <a:ahLst/>
            <a:cxnLst/>
            <a:rect l="l" t="t" r="r" b="b"/>
            <a:pathLst>
              <a:path w="12716270" h="6635581">
                <a:moveTo>
                  <a:pt x="0" y="0"/>
                </a:moveTo>
                <a:lnTo>
                  <a:pt x="12716270" y="0"/>
                </a:lnTo>
                <a:lnTo>
                  <a:pt x="12716270" y="6635581"/>
                </a:lnTo>
                <a:lnTo>
                  <a:pt x="0" y="6635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8289110" flipH="1" flipV="1">
            <a:off x="-4114297" y="547890"/>
            <a:ext cx="12716270" cy="6635581"/>
          </a:xfrm>
          <a:custGeom>
            <a:avLst/>
            <a:gdLst/>
            <a:ahLst/>
            <a:cxnLst/>
            <a:rect l="l" t="t" r="r" b="b"/>
            <a:pathLst>
              <a:path w="12716270" h="6635581">
                <a:moveTo>
                  <a:pt x="12716270" y="6635580"/>
                </a:moveTo>
                <a:lnTo>
                  <a:pt x="0" y="6635580"/>
                </a:lnTo>
                <a:lnTo>
                  <a:pt x="0" y="0"/>
                </a:lnTo>
                <a:lnTo>
                  <a:pt x="12716270" y="0"/>
                </a:lnTo>
                <a:lnTo>
                  <a:pt x="12716270" y="6635580"/>
                </a:lnTo>
                <a:close/>
              </a:path>
            </a:pathLst>
          </a:custGeom>
          <a:blipFill>
            <a:blip r:embed="rId5">
              <a:alphaModFix amt="8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9193604" y="7711557"/>
            <a:ext cx="2752431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64CAF4"/>
                </a:solidFill>
                <a:latin typeface="Dynamo Medium"/>
                <a:ea typeface="Dynamo Medium"/>
                <a:cs typeface="Dynamo Medium"/>
                <a:sym typeface="Dynamo Medium"/>
              </a:rPr>
              <a:t>Presented by: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4554" y="8537575"/>
            <a:ext cx="4622964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FCFE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Srija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5198" y="2645211"/>
            <a:ext cx="4197072" cy="6613089"/>
            <a:chOff x="0" y="0"/>
            <a:chExt cx="1105402" cy="1741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5402" cy="1741719"/>
            </a:xfrm>
            <a:custGeom>
              <a:avLst/>
              <a:gdLst/>
              <a:ahLst/>
              <a:cxnLst/>
              <a:rect l="l" t="t" r="r" b="b"/>
              <a:pathLst>
                <a:path w="1105402" h="1741719">
                  <a:moveTo>
                    <a:pt x="151257" y="0"/>
                  </a:moveTo>
                  <a:lnTo>
                    <a:pt x="954144" y="0"/>
                  </a:lnTo>
                  <a:cubicBezTo>
                    <a:pt x="994260" y="0"/>
                    <a:pt x="1032733" y="15936"/>
                    <a:pt x="1061099" y="44302"/>
                  </a:cubicBezTo>
                  <a:cubicBezTo>
                    <a:pt x="1089466" y="72668"/>
                    <a:pt x="1105402" y="111141"/>
                    <a:pt x="1105402" y="151257"/>
                  </a:cubicBezTo>
                  <a:lnTo>
                    <a:pt x="1105402" y="1590462"/>
                  </a:lnTo>
                  <a:cubicBezTo>
                    <a:pt x="1105402" y="1673999"/>
                    <a:pt x="1037681" y="1741719"/>
                    <a:pt x="954144" y="1741719"/>
                  </a:cubicBezTo>
                  <a:lnTo>
                    <a:pt x="151257" y="1741719"/>
                  </a:lnTo>
                  <a:cubicBezTo>
                    <a:pt x="111141" y="1741719"/>
                    <a:pt x="72668" y="1725783"/>
                    <a:pt x="44302" y="1697417"/>
                  </a:cubicBezTo>
                  <a:cubicBezTo>
                    <a:pt x="15936" y="1669050"/>
                    <a:pt x="0" y="1630578"/>
                    <a:pt x="0" y="1590462"/>
                  </a:cubicBezTo>
                  <a:lnTo>
                    <a:pt x="0" y="151257"/>
                  </a:lnTo>
                  <a:cubicBezTo>
                    <a:pt x="0" y="111141"/>
                    <a:pt x="15936" y="72668"/>
                    <a:pt x="44302" y="44302"/>
                  </a:cubicBezTo>
                  <a:cubicBezTo>
                    <a:pt x="72668" y="15936"/>
                    <a:pt x="111141" y="0"/>
                    <a:pt x="1512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77979">
                    <a:alpha val="100000"/>
                  </a:srgbClr>
                </a:gs>
                <a:gs pos="20000">
                  <a:srgbClr val="A6A7A7">
                    <a:alpha val="100000"/>
                  </a:srgbClr>
                </a:gs>
                <a:gs pos="40000">
                  <a:srgbClr val="BEBEBE">
                    <a:alpha val="100000"/>
                  </a:srgbClr>
                </a:gs>
                <a:gs pos="60000">
                  <a:srgbClr val="BEBEBE">
                    <a:alpha val="100000"/>
                  </a:srgbClr>
                </a:gs>
                <a:gs pos="80000">
                  <a:srgbClr val="A6A7A7">
                    <a:alpha val="100000"/>
                  </a:srgbClr>
                </a:gs>
                <a:gs pos="100000">
                  <a:srgbClr val="777979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105402" cy="172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08456" y="3236278"/>
            <a:ext cx="9095575" cy="503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centralized, web-based platform designed to manage the end-to-end application process for aspiring health coaches.</a:t>
            </a:r>
          </a:p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Supports applicants and a review committee with efficient workflows, transparency, and system integrity.</a:t>
            </a:r>
          </a:p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Comprises a React.js frontend and a Spring Boot backend communicating via secure REST APIs.</a:t>
            </a:r>
          </a:p>
          <a:p>
            <a:pPr algn="l">
              <a:lnSpc>
                <a:spcPts val="4479"/>
              </a:lnSpc>
            </a:pPr>
            <a:endParaRPr lang="en-US" sz="3199" spc="12" dirty="0">
              <a:solidFill>
                <a:srgbClr val="3275C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917515" y="2744745"/>
            <a:ext cx="3872438" cy="6414021"/>
            <a:chOff x="0" y="0"/>
            <a:chExt cx="577608" cy="9567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7608" cy="956707"/>
            </a:xfrm>
            <a:custGeom>
              <a:avLst/>
              <a:gdLst/>
              <a:ahLst/>
              <a:cxnLst/>
              <a:rect l="l" t="t" r="r" b="b"/>
              <a:pathLst>
                <a:path w="577608" h="956707">
                  <a:moveTo>
                    <a:pt x="135948" y="0"/>
                  </a:moveTo>
                  <a:lnTo>
                    <a:pt x="441660" y="0"/>
                  </a:lnTo>
                  <a:cubicBezTo>
                    <a:pt x="477715" y="0"/>
                    <a:pt x="512294" y="14323"/>
                    <a:pt x="537789" y="39818"/>
                  </a:cubicBezTo>
                  <a:cubicBezTo>
                    <a:pt x="563285" y="65313"/>
                    <a:pt x="577608" y="99892"/>
                    <a:pt x="577608" y="135948"/>
                  </a:cubicBezTo>
                  <a:lnTo>
                    <a:pt x="577608" y="820759"/>
                  </a:lnTo>
                  <a:cubicBezTo>
                    <a:pt x="577608" y="856814"/>
                    <a:pt x="563285" y="891393"/>
                    <a:pt x="537789" y="916889"/>
                  </a:cubicBezTo>
                  <a:cubicBezTo>
                    <a:pt x="512294" y="942384"/>
                    <a:pt x="477715" y="956707"/>
                    <a:pt x="441660" y="956707"/>
                  </a:cubicBezTo>
                  <a:lnTo>
                    <a:pt x="135948" y="956707"/>
                  </a:lnTo>
                  <a:cubicBezTo>
                    <a:pt x="99892" y="956707"/>
                    <a:pt x="65313" y="942384"/>
                    <a:pt x="39818" y="916889"/>
                  </a:cubicBezTo>
                  <a:cubicBezTo>
                    <a:pt x="14323" y="891393"/>
                    <a:pt x="0" y="856814"/>
                    <a:pt x="0" y="820759"/>
                  </a:cubicBezTo>
                  <a:lnTo>
                    <a:pt x="0" y="135948"/>
                  </a:lnTo>
                  <a:cubicBezTo>
                    <a:pt x="0" y="99892"/>
                    <a:pt x="14323" y="65313"/>
                    <a:pt x="39818" y="39818"/>
                  </a:cubicBezTo>
                  <a:cubicBezTo>
                    <a:pt x="65313" y="14323"/>
                    <a:pt x="99892" y="0"/>
                    <a:pt x="135948" y="0"/>
                  </a:cubicBezTo>
                  <a:close/>
                </a:path>
              </a:pathLst>
            </a:custGeom>
            <a:blipFill>
              <a:blip r:embed="rId2"/>
              <a:stretch>
                <a:fillRect l="-69935" r="-78287"/>
              </a:stretch>
            </a:blipFill>
            <a:ln w="142875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811046" y="1466329"/>
            <a:ext cx="772175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8C52FF"/>
                </a:solidFill>
                <a:latin typeface="Dynamo Medium"/>
                <a:ea typeface="Dynamo Medium"/>
                <a:cs typeface="Dynamo Medium"/>
                <a:sym typeface="Dynamo Medium"/>
              </a:rPr>
              <a:t>INTRODUCTION</a:t>
            </a:r>
          </a:p>
        </p:txBody>
      </p:sp>
      <p:sp>
        <p:nvSpPr>
          <p:cNvPr id="9" name="Freeform 9"/>
          <p:cNvSpPr/>
          <p:nvPr/>
        </p:nvSpPr>
        <p:spPr>
          <a:xfrm rot="8289110" flipH="1" flipV="1">
            <a:off x="-4163901" y="410277"/>
            <a:ext cx="12716270" cy="6635581"/>
          </a:xfrm>
          <a:custGeom>
            <a:avLst/>
            <a:gdLst/>
            <a:ahLst/>
            <a:cxnLst/>
            <a:rect l="l" t="t" r="r" b="b"/>
            <a:pathLst>
              <a:path w="12716270" h="6635581">
                <a:moveTo>
                  <a:pt x="12716269" y="6635581"/>
                </a:moveTo>
                <a:lnTo>
                  <a:pt x="0" y="6635581"/>
                </a:lnTo>
                <a:lnTo>
                  <a:pt x="0" y="0"/>
                </a:lnTo>
                <a:lnTo>
                  <a:pt x="12716269" y="0"/>
                </a:lnTo>
                <a:lnTo>
                  <a:pt x="12716269" y="6635581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8289110">
            <a:off x="10504334" y="3395569"/>
            <a:ext cx="12716270" cy="6635581"/>
          </a:xfrm>
          <a:custGeom>
            <a:avLst/>
            <a:gdLst/>
            <a:ahLst/>
            <a:cxnLst/>
            <a:rect l="l" t="t" r="r" b="b"/>
            <a:pathLst>
              <a:path w="12716270" h="6635581">
                <a:moveTo>
                  <a:pt x="0" y="0"/>
                </a:moveTo>
                <a:lnTo>
                  <a:pt x="12716270" y="0"/>
                </a:lnTo>
                <a:lnTo>
                  <a:pt x="12716270" y="6635581"/>
                </a:lnTo>
                <a:lnTo>
                  <a:pt x="0" y="6635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8289110" flipH="1" flipV="1">
            <a:off x="-5496855" y="410277"/>
            <a:ext cx="12716270" cy="6635581"/>
          </a:xfrm>
          <a:custGeom>
            <a:avLst/>
            <a:gdLst/>
            <a:ahLst/>
            <a:cxnLst/>
            <a:rect l="l" t="t" r="r" b="b"/>
            <a:pathLst>
              <a:path w="12716270" h="6635581">
                <a:moveTo>
                  <a:pt x="12716270" y="6635581"/>
                </a:moveTo>
                <a:lnTo>
                  <a:pt x="0" y="6635581"/>
                </a:lnTo>
                <a:lnTo>
                  <a:pt x="0" y="0"/>
                </a:lnTo>
                <a:lnTo>
                  <a:pt x="12716270" y="0"/>
                </a:lnTo>
                <a:lnTo>
                  <a:pt x="12716270" y="6635581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255915" y="1972240"/>
            <a:ext cx="10511830" cy="6342521"/>
          </a:xfrm>
          <a:custGeom>
            <a:avLst/>
            <a:gdLst/>
            <a:ahLst/>
            <a:cxnLst/>
            <a:rect l="l" t="t" r="r" b="b"/>
            <a:pathLst>
              <a:path w="10511830" h="6342521">
                <a:moveTo>
                  <a:pt x="0" y="0"/>
                </a:moveTo>
                <a:lnTo>
                  <a:pt x="10511830" y="0"/>
                </a:lnTo>
                <a:lnTo>
                  <a:pt x="10511830" y="6342520"/>
                </a:lnTo>
                <a:lnTo>
                  <a:pt x="0" y="634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4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42516" y="258763"/>
            <a:ext cx="970060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8C52FF"/>
                </a:solidFill>
                <a:latin typeface="Dynamo Medium"/>
                <a:ea typeface="Dynamo Medium"/>
                <a:cs typeface="Dynamo Medium"/>
                <a:sym typeface="Dynamo Medium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68315" y="1789824"/>
            <a:ext cx="14249006" cy="849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373" lvl="1" indent="-340187" algn="l">
              <a:lnSpc>
                <a:spcPts val="5199"/>
              </a:lnSpc>
              <a:buFont typeface="Arial"/>
              <a:buChar char="•"/>
            </a:pPr>
            <a:r>
              <a:rPr lang="en-US" sz="3151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Managing health coach applications requires a system that can handle multiple stages such as submission, review, document management, and status tracking.</a:t>
            </a:r>
          </a:p>
          <a:p>
            <a:pPr marL="680373" lvl="1" indent="-340187" algn="l">
              <a:lnSpc>
                <a:spcPts val="5199"/>
              </a:lnSpc>
              <a:buFont typeface="Arial"/>
              <a:buChar char="•"/>
            </a:pPr>
            <a:r>
              <a:rPr lang="en-US" sz="3151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process involves coordination between applicants and reviewers, requiring timely notifications and clear communication.</a:t>
            </a:r>
          </a:p>
          <a:p>
            <a:pPr marL="680373" lvl="1" indent="-340187" algn="l">
              <a:lnSpc>
                <a:spcPts val="5199"/>
              </a:lnSpc>
              <a:buFont typeface="Arial"/>
              <a:buChar char="•"/>
            </a:pPr>
            <a:r>
              <a:rPr lang="en-US" sz="3151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Ensuring data accuracy, secure storage of personal and professional information, and proper handling of documents are essential.</a:t>
            </a:r>
          </a:p>
          <a:p>
            <a:pPr marL="680373" lvl="1" indent="-340187" algn="l">
              <a:lnSpc>
                <a:spcPts val="5199"/>
              </a:lnSpc>
              <a:buFont typeface="Arial"/>
              <a:buChar char="•"/>
            </a:pPr>
            <a:r>
              <a:rPr lang="en-US" sz="3151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Without a structured system, it becomes difficult to monitor application status, maintain transparency, and manage user interactions effectively.</a:t>
            </a:r>
          </a:p>
          <a:p>
            <a:pPr marL="680373" lvl="1" indent="-340187" algn="l">
              <a:lnSpc>
                <a:spcPts val="5199"/>
              </a:lnSpc>
              <a:buFont typeface="Arial"/>
              <a:buChar char="•"/>
            </a:pPr>
            <a:r>
              <a:rPr lang="en-US" sz="3151" spc="12" dirty="0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digital solution is needed to centralize and automate the application workflow, improve efficiency, and support end-to-end tracking and decision-making.</a:t>
            </a:r>
          </a:p>
          <a:p>
            <a:pPr algn="l">
              <a:lnSpc>
                <a:spcPts val="5199"/>
              </a:lnSpc>
            </a:pPr>
            <a:r>
              <a:rPr lang="en-US" sz="3151" spc="12" dirty="0">
                <a:solidFill>
                  <a:srgbClr val="3C413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</a:p>
          <a:p>
            <a:pPr algn="l">
              <a:lnSpc>
                <a:spcPts val="5199"/>
              </a:lnSpc>
            </a:pPr>
            <a:endParaRPr lang="en-US" sz="3151" spc="12" dirty="0">
              <a:solidFill>
                <a:srgbClr val="3C413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" name="Freeform 5"/>
          <p:cNvSpPr/>
          <p:nvPr/>
        </p:nvSpPr>
        <p:spPr>
          <a:xfrm rot="-1064081" flipH="1" flipV="1">
            <a:off x="10574596" y="4016037"/>
            <a:ext cx="12941869" cy="6753302"/>
          </a:xfrm>
          <a:custGeom>
            <a:avLst/>
            <a:gdLst/>
            <a:ahLst/>
            <a:cxnLst/>
            <a:rect l="l" t="t" r="r" b="b"/>
            <a:pathLst>
              <a:path w="12941869" h="6753302">
                <a:moveTo>
                  <a:pt x="12941869" y="6753302"/>
                </a:moveTo>
                <a:lnTo>
                  <a:pt x="0" y="6753302"/>
                </a:lnTo>
                <a:lnTo>
                  <a:pt x="0" y="0"/>
                </a:lnTo>
                <a:lnTo>
                  <a:pt x="12941869" y="0"/>
                </a:lnTo>
                <a:lnTo>
                  <a:pt x="12941869" y="6753302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67553" y="199000"/>
            <a:ext cx="3410561" cy="2953392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26973" r="-2697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10800000">
            <a:off x="12592738" y="-611740"/>
            <a:ext cx="5871820" cy="3280879"/>
          </a:xfrm>
          <a:custGeom>
            <a:avLst/>
            <a:gdLst/>
            <a:ahLst/>
            <a:cxnLst/>
            <a:rect l="l" t="t" r="r" b="b"/>
            <a:pathLst>
              <a:path w="5871820" h="3280879">
                <a:moveTo>
                  <a:pt x="0" y="0"/>
                </a:moveTo>
                <a:lnTo>
                  <a:pt x="5871820" y="0"/>
                </a:lnTo>
                <a:lnTo>
                  <a:pt x="5871820" y="3280880"/>
                </a:lnTo>
                <a:lnTo>
                  <a:pt x="0" y="32808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32255" y="3384526"/>
            <a:ext cx="14411013" cy="503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12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Develop a two-tier web application to manage the end-to-end health coach application process.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12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Provide distinct user interfaces and functionalities for both applicants and reviewers/admins.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12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Enable real-time notifications and status updates throughout the application lifecycle.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spc="12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Implement role-based access control and offer detailed reporting capabilities for better decision-making.</a:t>
            </a:r>
          </a:p>
          <a:p>
            <a:pPr algn="l">
              <a:lnSpc>
                <a:spcPts val="4480"/>
              </a:lnSpc>
            </a:pPr>
            <a:endParaRPr lang="en-US" sz="3200" spc="12">
              <a:solidFill>
                <a:srgbClr val="3275C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" name="Freeform 6"/>
          <p:cNvSpPr/>
          <p:nvPr/>
        </p:nvSpPr>
        <p:spPr>
          <a:xfrm rot="-10800000" flipH="1" flipV="1">
            <a:off x="-203655" y="7617860"/>
            <a:ext cx="5871820" cy="3280879"/>
          </a:xfrm>
          <a:custGeom>
            <a:avLst/>
            <a:gdLst/>
            <a:ahLst/>
            <a:cxnLst/>
            <a:rect l="l" t="t" r="r" b="b"/>
            <a:pathLst>
              <a:path w="5871820" h="3280879">
                <a:moveTo>
                  <a:pt x="5871820" y="3280880"/>
                </a:moveTo>
                <a:lnTo>
                  <a:pt x="0" y="3280880"/>
                </a:lnTo>
                <a:lnTo>
                  <a:pt x="0" y="0"/>
                </a:lnTo>
                <a:lnTo>
                  <a:pt x="5871820" y="0"/>
                </a:lnTo>
                <a:lnTo>
                  <a:pt x="5871820" y="3280880"/>
                </a:lnTo>
                <a:close/>
              </a:path>
            </a:pathLst>
          </a:custGeom>
          <a:blipFill>
            <a:blip r:embed="rId3">
              <a:alphaModFix amt="69000"/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004878" y="3947814"/>
            <a:ext cx="2971665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spc="250">
                <a:solidFill>
                  <a:srgbClr val="FCFEFF"/>
                </a:solidFill>
                <a:latin typeface="Dynamo Medium"/>
                <a:ea typeface="Dynamo Medium"/>
                <a:cs typeface="Dynamo Medium"/>
                <a:sym typeface="Dynamo Medium"/>
              </a:rPr>
              <a:t>MISSION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44850" y="1220899"/>
            <a:ext cx="772175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8C52FF"/>
                </a:solidFill>
                <a:latin typeface="Dynamo Medium"/>
                <a:ea typeface="Dynamo Medium"/>
                <a:cs typeface="Dynamo Medium"/>
                <a:sym typeface="Dynamo Medium"/>
              </a:rPr>
              <a:t>OBJECTIVE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01488" y="3186364"/>
            <a:ext cx="4123278" cy="6179299"/>
          </a:xfrm>
          <a:custGeom>
            <a:avLst/>
            <a:gdLst/>
            <a:ahLst/>
            <a:cxnLst/>
            <a:rect l="l" t="t" r="r" b="b"/>
            <a:pathLst>
              <a:path w="4123278" h="6179299">
                <a:moveTo>
                  <a:pt x="0" y="0"/>
                </a:moveTo>
                <a:lnTo>
                  <a:pt x="4123277" y="0"/>
                </a:lnTo>
                <a:lnTo>
                  <a:pt x="4123277" y="6179299"/>
                </a:lnTo>
                <a:lnTo>
                  <a:pt x="0" y="617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96365" y="2676993"/>
            <a:ext cx="4269664" cy="6398679"/>
          </a:xfrm>
          <a:custGeom>
            <a:avLst/>
            <a:gdLst/>
            <a:ahLst/>
            <a:cxnLst/>
            <a:rect l="l" t="t" r="r" b="b"/>
            <a:pathLst>
              <a:path w="4269664" h="6398679">
                <a:moveTo>
                  <a:pt x="0" y="0"/>
                </a:moveTo>
                <a:lnTo>
                  <a:pt x="4269664" y="0"/>
                </a:lnTo>
                <a:lnTo>
                  <a:pt x="4269664" y="6398679"/>
                </a:lnTo>
                <a:lnTo>
                  <a:pt x="0" y="639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65236" y="3313237"/>
            <a:ext cx="4038619" cy="6052426"/>
          </a:xfrm>
          <a:custGeom>
            <a:avLst/>
            <a:gdLst/>
            <a:ahLst/>
            <a:cxnLst/>
            <a:rect l="l" t="t" r="r" b="b"/>
            <a:pathLst>
              <a:path w="4038619" h="6052426">
                <a:moveTo>
                  <a:pt x="0" y="0"/>
                </a:moveTo>
                <a:lnTo>
                  <a:pt x="4038619" y="0"/>
                </a:lnTo>
                <a:lnTo>
                  <a:pt x="4038619" y="6052426"/>
                </a:lnTo>
                <a:lnTo>
                  <a:pt x="0" y="605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90332" y="3470026"/>
            <a:ext cx="1281730" cy="1223470"/>
          </a:xfrm>
          <a:custGeom>
            <a:avLst/>
            <a:gdLst/>
            <a:ahLst/>
            <a:cxnLst/>
            <a:rect l="l" t="t" r="r" b="b"/>
            <a:pathLst>
              <a:path w="1281730" h="1223470">
                <a:moveTo>
                  <a:pt x="0" y="0"/>
                </a:moveTo>
                <a:lnTo>
                  <a:pt x="1281731" y="0"/>
                </a:lnTo>
                <a:lnTo>
                  <a:pt x="1281731" y="1223470"/>
                </a:lnTo>
                <a:lnTo>
                  <a:pt x="0" y="1223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77981" y="3922952"/>
            <a:ext cx="1251359" cy="1251359"/>
          </a:xfrm>
          <a:custGeom>
            <a:avLst/>
            <a:gdLst/>
            <a:ahLst/>
            <a:cxnLst/>
            <a:rect l="l" t="t" r="r" b="b"/>
            <a:pathLst>
              <a:path w="1251359" h="1251359">
                <a:moveTo>
                  <a:pt x="0" y="0"/>
                </a:moveTo>
                <a:lnTo>
                  <a:pt x="1251359" y="0"/>
                </a:lnTo>
                <a:lnTo>
                  <a:pt x="1251359" y="1251360"/>
                </a:lnTo>
                <a:lnTo>
                  <a:pt x="0" y="1251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63698" y="394168"/>
            <a:ext cx="1076060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8C52FF"/>
                </a:solidFill>
                <a:latin typeface="Dynamo Medium"/>
                <a:ea typeface="Dynamo Medium"/>
                <a:cs typeface="Dynamo Medium"/>
                <a:sym typeface="Dynamo Medium"/>
              </a:rPr>
              <a:t>OUTCOME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748459" y="-131003"/>
            <a:ext cx="7009358" cy="1159703"/>
            <a:chOff x="0" y="0"/>
            <a:chExt cx="1250766" cy="206940"/>
          </a:xfrm>
        </p:grpSpPr>
        <p:sp>
          <p:nvSpPr>
            <p:cNvPr id="10" name="Freeform 10"/>
            <p:cNvSpPr/>
            <p:nvPr/>
          </p:nvSpPr>
          <p:spPr>
            <a:xfrm>
              <a:off x="11494" y="0"/>
              <a:ext cx="1227777" cy="206940"/>
            </a:xfrm>
            <a:custGeom>
              <a:avLst/>
              <a:gdLst/>
              <a:ahLst/>
              <a:cxnLst/>
              <a:rect l="l" t="t" r="r" b="b"/>
              <a:pathLst>
                <a:path w="1227777" h="206940">
                  <a:moveTo>
                    <a:pt x="212692" y="0"/>
                  </a:moveTo>
                  <a:lnTo>
                    <a:pt x="1218286" y="0"/>
                  </a:lnTo>
                  <a:cubicBezTo>
                    <a:pt x="1221833" y="0"/>
                    <a:pt x="1225033" y="2128"/>
                    <a:pt x="1226405" y="5398"/>
                  </a:cubicBezTo>
                  <a:cubicBezTo>
                    <a:pt x="1227778" y="8669"/>
                    <a:pt x="1227054" y="12443"/>
                    <a:pt x="1224569" y="14974"/>
                  </a:cubicBezTo>
                  <a:lnTo>
                    <a:pt x="1050775" y="191966"/>
                  </a:lnTo>
                  <a:cubicBezTo>
                    <a:pt x="1041370" y="201544"/>
                    <a:pt x="1028510" y="206940"/>
                    <a:pt x="1015086" y="206940"/>
                  </a:cubicBezTo>
                  <a:lnTo>
                    <a:pt x="9492" y="206940"/>
                  </a:lnTo>
                  <a:cubicBezTo>
                    <a:pt x="5945" y="206940"/>
                    <a:pt x="2745" y="204812"/>
                    <a:pt x="1373" y="201542"/>
                  </a:cubicBezTo>
                  <a:cubicBezTo>
                    <a:pt x="0" y="198271"/>
                    <a:pt x="724" y="194497"/>
                    <a:pt x="3209" y="191966"/>
                  </a:cubicBezTo>
                  <a:lnTo>
                    <a:pt x="177003" y="14974"/>
                  </a:lnTo>
                  <a:cubicBezTo>
                    <a:pt x="186408" y="5396"/>
                    <a:pt x="199268" y="0"/>
                    <a:pt x="212692" y="0"/>
                  </a:cubicBezTo>
                  <a:close/>
                </a:path>
              </a:pathLst>
            </a:custGeom>
            <a:solidFill>
              <a:srgbClr val="3275C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19050"/>
              <a:ext cx="1047566" cy="187890"/>
            </a:xfrm>
            <a:prstGeom prst="rect">
              <a:avLst/>
            </a:prstGeom>
          </p:spPr>
          <p:txBody>
            <a:bodyPr lIns="83282" tIns="83282" rIns="83282" bIns="83282" rtlCol="0" anchor="ctr"/>
            <a:lstStyle/>
            <a:p>
              <a:pPr algn="ctr">
                <a:lnSpc>
                  <a:spcPts val="199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866840" y="903964"/>
            <a:ext cx="3144637" cy="520282"/>
            <a:chOff x="0" y="0"/>
            <a:chExt cx="1250766" cy="206940"/>
          </a:xfrm>
        </p:grpSpPr>
        <p:sp>
          <p:nvSpPr>
            <p:cNvPr id="13" name="Freeform 13"/>
            <p:cNvSpPr/>
            <p:nvPr/>
          </p:nvSpPr>
          <p:spPr>
            <a:xfrm>
              <a:off x="13485" y="0"/>
              <a:ext cx="1223797" cy="206940"/>
            </a:xfrm>
            <a:custGeom>
              <a:avLst/>
              <a:gdLst/>
              <a:ahLst/>
              <a:cxnLst/>
              <a:rect l="l" t="t" r="r" b="b"/>
              <a:pathLst>
                <a:path w="1223797" h="206940">
                  <a:moveTo>
                    <a:pt x="214334" y="0"/>
                  </a:moveTo>
                  <a:lnTo>
                    <a:pt x="1212662" y="0"/>
                  </a:lnTo>
                  <a:cubicBezTo>
                    <a:pt x="1216822" y="0"/>
                    <a:pt x="1220577" y="2496"/>
                    <a:pt x="1222187" y="6333"/>
                  </a:cubicBezTo>
                  <a:cubicBezTo>
                    <a:pt x="1223796" y="10170"/>
                    <a:pt x="1222947" y="14598"/>
                    <a:pt x="1220032" y="17567"/>
                  </a:cubicBezTo>
                  <a:lnTo>
                    <a:pt x="1051330" y="189373"/>
                  </a:lnTo>
                  <a:cubicBezTo>
                    <a:pt x="1040297" y="200610"/>
                    <a:pt x="1025210" y="206940"/>
                    <a:pt x="1009462" y="206940"/>
                  </a:cubicBezTo>
                  <a:lnTo>
                    <a:pt x="11134" y="206940"/>
                  </a:lnTo>
                  <a:cubicBezTo>
                    <a:pt x="6974" y="206940"/>
                    <a:pt x="3219" y="204444"/>
                    <a:pt x="1609" y="200607"/>
                  </a:cubicBezTo>
                  <a:cubicBezTo>
                    <a:pt x="0" y="196770"/>
                    <a:pt x="849" y="192342"/>
                    <a:pt x="3764" y="189373"/>
                  </a:cubicBezTo>
                  <a:lnTo>
                    <a:pt x="172466" y="17567"/>
                  </a:lnTo>
                  <a:cubicBezTo>
                    <a:pt x="183499" y="6330"/>
                    <a:pt x="198586" y="0"/>
                    <a:pt x="214334" y="0"/>
                  </a:cubicBezTo>
                  <a:close/>
                </a:path>
              </a:pathLst>
            </a:custGeom>
            <a:solidFill>
              <a:srgbClr val="64CAF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19050"/>
              <a:ext cx="1047566" cy="187890"/>
            </a:xfrm>
            <a:prstGeom prst="rect">
              <a:avLst/>
            </a:prstGeom>
          </p:spPr>
          <p:txBody>
            <a:bodyPr lIns="83282" tIns="83282" rIns="83282" bIns="83282" rtlCol="0" anchor="ctr"/>
            <a:lstStyle/>
            <a:p>
              <a:pPr algn="ctr">
                <a:lnSpc>
                  <a:spcPts val="199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65236" y="-131003"/>
            <a:ext cx="7009358" cy="1138013"/>
            <a:chOff x="0" y="0"/>
            <a:chExt cx="812800" cy="131963"/>
          </a:xfrm>
        </p:grpSpPr>
        <p:sp>
          <p:nvSpPr>
            <p:cNvPr id="16" name="Freeform 16"/>
            <p:cNvSpPr/>
            <p:nvPr/>
          </p:nvSpPr>
          <p:spPr>
            <a:xfrm>
              <a:off x="14243" y="0"/>
              <a:ext cx="784313" cy="131963"/>
            </a:xfrm>
            <a:custGeom>
              <a:avLst/>
              <a:gdLst/>
              <a:ahLst/>
              <a:cxnLst/>
              <a:rect l="l" t="t" r="r" b="b"/>
              <a:pathLst>
                <a:path w="784313" h="131963">
                  <a:moveTo>
                    <a:pt x="574371" y="0"/>
                  </a:moveTo>
                  <a:lnTo>
                    <a:pt x="6743" y="0"/>
                  </a:lnTo>
                  <a:cubicBezTo>
                    <a:pt x="3990" y="0"/>
                    <a:pt x="1564" y="1811"/>
                    <a:pt x="782" y="4451"/>
                  </a:cubicBezTo>
                  <a:cubicBezTo>
                    <a:pt x="0" y="7091"/>
                    <a:pt x="1048" y="9930"/>
                    <a:pt x="3357" y="11430"/>
                  </a:cubicBezTo>
                  <a:lnTo>
                    <a:pt x="171357" y="120533"/>
                  </a:lnTo>
                  <a:cubicBezTo>
                    <a:pt x="182844" y="127993"/>
                    <a:pt x="196246" y="131963"/>
                    <a:pt x="209943" y="131963"/>
                  </a:cubicBezTo>
                  <a:lnTo>
                    <a:pt x="777571" y="131963"/>
                  </a:lnTo>
                  <a:cubicBezTo>
                    <a:pt x="780324" y="131963"/>
                    <a:pt x="782750" y="130152"/>
                    <a:pt x="783532" y="127512"/>
                  </a:cubicBezTo>
                  <a:cubicBezTo>
                    <a:pt x="784314" y="124873"/>
                    <a:pt x="783266" y="122033"/>
                    <a:pt x="780957" y="120533"/>
                  </a:cubicBezTo>
                  <a:lnTo>
                    <a:pt x="612957" y="11430"/>
                  </a:lnTo>
                  <a:cubicBezTo>
                    <a:pt x="601470" y="3970"/>
                    <a:pt x="588068" y="0"/>
                    <a:pt x="574371" y="0"/>
                  </a:cubicBezTo>
                  <a:close/>
                </a:path>
              </a:pathLst>
            </a:custGeom>
            <a:solidFill>
              <a:srgbClr val="3275C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19050"/>
              <a:ext cx="609600" cy="112913"/>
            </a:xfrm>
            <a:prstGeom prst="rect">
              <a:avLst/>
            </a:prstGeom>
          </p:spPr>
          <p:txBody>
            <a:bodyPr lIns="83282" tIns="83282" rIns="83282" bIns="83282" rtlCol="0" anchor="ctr"/>
            <a:lstStyle/>
            <a:p>
              <a:pPr algn="ctr">
                <a:lnSpc>
                  <a:spcPts val="199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10113" y="768559"/>
            <a:ext cx="3144637" cy="520282"/>
            <a:chOff x="0" y="0"/>
            <a:chExt cx="812800" cy="134478"/>
          </a:xfrm>
        </p:grpSpPr>
        <p:sp>
          <p:nvSpPr>
            <p:cNvPr id="19" name="Freeform 19"/>
            <p:cNvSpPr/>
            <p:nvPr/>
          </p:nvSpPr>
          <p:spPr>
            <a:xfrm>
              <a:off x="26532" y="0"/>
              <a:ext cx="759735" cy="134478"/>
            </a:xfrm>
            <a:custGeom>
              <a:avLst/>
              <a:gdLst/>
              <a:ahLst/>
              <a:cxnLst/>
              <a:rect l="l" t="t" r="r" b="b"/>
              <a:pathLst>
                <a:path w="759735" h="134478">
                  <a:moveTo>
                    <a:pt x="543677" y="0"/>
                  </a:moveTo>
                  <a:lnTo>
                    <a:pt x="12859" y="0"/>
                  </a:lnTo>
                  <a:cubicBezTo>
                    <a:pt x="7628" y="0"/>
                    <a:pt x="3015" y="3429"/>
                    <a:pt x="1508" y="8438"/>
                  </a:cubicBezTo>
                  <a:cubicBezTo>
                    <a:pt x="0" y="13447"/>
                    <a:pt x="1955" y="18853"/>
                    <a:pt x="6317" y="21740"/>
                  </a:cubicBezTo>
                  <a:lnTo>
                    <a:pt x="143819" y="112739"/>
                  </a:lnTo>
                  <a:cubicBezTo>
                    <a:pt x="165244" y="126918"/>
                    <a:pt x="190367" y="134478"/>
                    <a:pt x="216059" y="134478"/>
                  </a:cubicBezTo>
                  <a:lnTo>
                    <a:pt x="746877" y="134478"/>
                  </a:lnTo>
                  <a:cubicBezTo>
                    <a:pt x="752108" y="134478"/>
                    <a:pt x="756721" y="131049"/>
                    <a:pt x="758228" y="126040"/>
                  </a:cubicBezTo>
                  <a:cubicBezTo>
                    <a:pt x="759736" y="121031"/>
                    <a:pt x="757781" y="115626"/>
                    <a:pt x="753419" y="112739"/>
                  </a:cubicBezTo>
                  <a:lnTo>
                    <a:pt x="615917" y="21740"/>
                  </a:lnTo>
                  <a:cubicBezTo>
                    <a:pt x="594492" y="7561"/>
                    <a:pt x="569369" y="0"/>
                    <a:pt x="543677" y="0"/>
                  </a:cubicBezTo>
                  <a:close/>
                </a:path>
              </a:pathLst>
            </a:custGeom>
            <a:solidFill>
              <a:srgbClr val="64CAF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19050"/>
              <a:ext cx="609600" cy="115428"/>
            </a:xfrm>
            <a:prstGeom prst="rect">
              <a:avLst/>
            </a:prstGeom>
          </p:spPr>
          <p:txBody>
            <a:bodyPr lIns="83282" tIns="83282" rIns="83282" bIns="83282" rtlCol="0" anchor="ctr"/>
            <a:lstStyle/>
            <a:p>
              <a:pPr algn="ctr">
                <a:lnSpc>
                  <a:spcPts val="1993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4137289" y="3922952"/>
            <a:ext cx="1294513" cy="1541087"/>
          </a:xfrm>
          <a:custGeom>
            <a:avLst/>
            <a:gdLst/>
            <a:ahLst/>
            <a:cxnLst/>
            <a:rect l="l" t="t" r="r" b="b"/>
            <a:pathLst>
              <a:path w="1294513" h="1541087">
                <a:moveTo>
                  <a:pt x="0" y="0"/>
                </a:moveTo>
                <a:lnTo>
                  <a:pt x="1294513" y="0"/>
                </a:lnTo>
                <a:lnTo>
                  <a:pt x="1294513" y="1541087"/>
                </a:lnTo>
                <a:lnTo>
                  <a:pt x="0" y="15410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34744" y="6613142"/>
            <a:ext cx="3856765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spc="11">
                <a:solidFill>
                  <a:srgbClr val="3275C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Simplified Workflow:</a:t>
            </a:r>
            <a:r>
              <a:rPr lang="en-US" sz="2799" spc="11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Seamless submission, review, and status tracking for health coach applications.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7495" y="6044526"/>
            <a:ext cx="3787405" cy="2555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1" spc="11">
                <a:solidFill>
                  <a:srgbClr val="3275C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Role-Based Accessibility:</a:t>
            </a:r>
            <a:r>
              <a:rPr lang="en-US" sz="2899" spc="11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Separate, tailored interfaces for applicants, reviewers, and admins.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65236" y="6431849"/>
            <a:ext cx="4038619" cy="2825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spc="11">
                <a:solidFill>
                  <a:srgbClr val="3275C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Enhanced Efficiency:</a:t>
            </a:r>
            <a:r>
              <a:rPr lang="en-US" sz="2799" spc="11">
                <a:solidFill>
                  <a:srgbClr val="3275C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Real-time notifications, secure document handling, and insightful reporting tools.</a:t>
            </a:r>
          </a:p>
          <a:p>
            <a:pPr algn="ctr">
              <a:lnSpc>
                <a:spcPts val="2800"/>
              </a:lnSpc>
            </a:pPr>
            <a:endParaRPr lang="en-US" sz="2799" spc="11">
              <a:solidFill>
                <a:srgbClr val="3275C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reeform 25"/>
          <p:cNvSpPr/>
          <p:nvPr/>
        </p:nvSpPr>
        <p:spPr>
          <a:xfrm rot="-10800000" flipH="1" flipV="1">
            <a:off x="-1442480" y="7616525"/>
            <a:ext cx="5871820" cy="3280879"/>
          </a:xfrm>
          <a:custGeom>
            <a:avLst/>
            <a:gdLst/>
            <a:ahLst/>
            <a:cxnLst/>
            <a:rect l="l" t="t" r="r" b="b"/>
            <a:pathLst>
              <a:path w="5871820" h="3280879">
                <a:moveTo>
                  <a:pt x="5871820" y="3280879"/>
                </a:moveTo>
                <a:lnTo>
                  <a:pt x="0" y="3280879"/>
                </a:lnTo>
                <a:lnTo>
                  <a:pt x="0" y="0"/>
                </a:lnTo>
                <a:lnTo>
                  <a:pt x="5871820" y="0"/>
                </a:lnTo>
                <a:lnTo>
                  <a:pt x="5871820" y="3280879"/>
                </a:lnTo>
                <a:close/>
              </a:path>
            </a:pathLst>
          </a:custGeom>
          <a:blipFill>
            <a:blip r:embed="rId10">
              <a:alphaModFix amt="69000"/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7646851" flipH="1" flipV="1">
            <a:off x="14936133" y="6959327"/>
            <a:ext cx="5871820" cy="3280879"/>
          </a:xfrm>
          <a:custGeom>
            <a:avLst/>
            <a:gdLst/>
            <a:ahLst/>
            <a:cxnLst/>
            <a:rect l="l" t="t" r="r" b="b"/>
            <a:pathLst>
              <a:path w="5871820" h="3280879">
                <a:moveTo>
                  <a:pt x="5871820" y="3280880"/>
                </a:moveTo>
                <a:lnTo>
                  <a:pt x="0" y="3280880"/>
                </a:lnTo>
                <a:lnTo>
                  <a:pt x="0" y="0"/>
                </a:lnTo>
                <a:lnTo>
                  <a:pt x="5871820" y="0"/>
                </a:lnTo>
                <a:lnTo>
                  <a:pt x="5871820" y="3280880"/>
                </a:lnTo>
                <a:close/>
              </a:path>
            </a:pathLst>
          </a:custGeom>
          <a:blipFill>
            <a:blip r:embed="rId10">
              <a:alphaModFix amt="69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3355587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20" y="6234930"/>
                </a:lnTo>
                <a:lnTo>
                  <a:pt x="10973020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2"/>
            <a:stretch>
              <a:fillRect l="-5409" r="-5409" b="-20431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-6391472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19" y="6234930"/>
                </a:lnTo>
                <a:lnTo>
                  <a:pt x="10973019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2"/>
            <a:stretch>
              <a:fillRect l="-5409" r="-5409" b="-2043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52600" y="1485900"/>
            <a:ext cx="6522329" cy="1009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 dirty="0">
                <a:solidFill>
                  <a:srgbClr val="3275C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Diagram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8265" y="-161925"/>
            <a:ext cx="10760605" cy="1344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 b="1">
                <a:solidFill>
                  <a:srgbClr val="8C52FF"/>
                </a:solidFill>
                <a:latin typeface="Dynamo Medium"/>
                <a:ea typeface="Dynamo Medium"/>
                <a:cs typeface="Dynamo Medium"/>
                <a:sym typeface="Dynamo Medium"/>
              </a:rPr>
              <a:t>UML DIAGRAMS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8B8B1B-785C-B917-D637-C58B7A541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84" y="2495551"/>
            <a:ext cx="10296525" cy="715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3156" y="2075495"/>
            <a:ext cx="8346039" cy="7743748"/>
          </a:xfrm>
          <a:custGeom>
            <a:avLst/>
            <a:gdLst/>
            <a:ahLst/>
            <a:cxnLst/>
            <a:rect l="l" t="t" r="r" b="b"/>
            <a:pathLst>
              <a:path w="8346039" h="7743748">
                <a:moveTo>
                  <a:pt x="0" y="0"/>
                </a:moveTo>
                <a:lnTo>
                  <a:pt x="8346040" y="0"/>
                </a:lnTo>
                <a:lnTo>
                  <a:pt x="8346040" y="7743748"/>
                </a:lnTo>
                <a:lnTo>
                  <a:pt x="0" y="7743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08040" y="266700"/>
            <a:ext cx="8346039" cy="1009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 dirty="0">
                <a:solidFill>
                  <a:srgbClr val="3275C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Diagram</a:t>
            </a:r>
          </a:p>
        </p:txBody>
      </p:sp>
      <p:sp>
        <p:nvSpPr>
          <p:cNvPr id="4" name="Freeform 4"/>
          <p:cNvSpPr/>
          <p:nvPr/>
        </p:nvSpPr>
        <p:spPr>
          <a:xfrm rot="5400000" flipV="1">
            <a:off x="13355587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20" y="6234930"/>
                </a:lnTo>
                <a:lnTo>
                  <a:pt x="10973020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3"/>
            <a:stretch>
              <a:fillRect l="-5409" r="-5409" b="-20431"/>
            </a:stretch>
          </a:blipFill>
        </p:spPr>
      </p:sp>
      <p:sp>
        <p:nvSpPr>
          <p:cNvPr id="5" name="Freeform 5"/>
          <p:cNvSpPr/>
          <p:nvPr/>
        </p:nvSpPr>
        <p:spPr>
          <a:xfrm rot="-5400000" flipV="1">
            <a:off x="-6391472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19" y="6234930"/>
                </a:lnTo>
                <a:lnTo>
                  <a:pt x="10973019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3"/>
            <a:stretch>
              <a:fillRect l="-5409" r="-5409" b="-2043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3355587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20" y="6234930"/>
                </a:lnTo>
                <a:lnTo>
                  <a:pt x="10973020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2"/>
            <a:stretch>
              <a:fillRect l="-5409" r="-5409" b="-20431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-6391472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19" y="6234930"/>
                </a:lnTo>
                <a:lnTo>
                  <a:pt x="10973019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2"/>
            <a:stretch>
              <a:fillRect l="-5409" r="-5409" b="-2043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386483" y="2228475"/>
            <a:ext cx="5825320" cy="7627260"/>
          </a:xfrm>
          <a:custGeom>
            <a:avLst/>
            <a:gdLst/>
            <a:ahLst/>
            <a:cxnLst/>
            <a:rect l="l" t="t" r="r" b="b"/>
            <a:pathLst>
              <a:path w="5825320" h="7627260">
                <a:moveTo>
                  <a:pt x="0" y="0"/>
                </a:moveTo>
                <a:lnTo>
                  <a:pt x="5825320" y="0"/>
                </a:lnTo>
                <a:lnTo>
                  <a:pt x="5825320" y="7627260"/>
                </a:lnTo>
                <a:lnTo>
                  <a:pt x="0" y="7627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27944" y="190500"/>
            <a:ext cx="8742398" cy="1009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 dirty="0">
                <a:solidFill>
                  <a:srgbClr val="3275C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3355587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20" y="6234930"/>
                </a:lnTo>
                <a:lnTo>
                  <a:pt x="10973020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2"/>
            <a:stretch>
              <a:fillRect l="-5409" r="-5409" b="-20431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-6391472" y="2026035"/>
            <a:ext cx="10973020" cy="6234931"/>
          </a:xfrm>
          <a:custGeom>
            <a:avLst/>
            <a:gdLst/>
            <a:ahLst/>
            <a:cxnLst/>
            <a:rect l="l" t="t" r="r" b="b"/>
            <a:pathLst>
              <a:path w="10973020" h="6234931">
                <a:moveTo>
                  <a:pt x="0" y="6234930"/>
                </a:moveTo>
                <a:lnTo>
                  <a:pt x="10973019" y="6234930"/>
                </a:lnTo>
                <a:lnTo>
                  <a:pt x="10973019" y="0"/>
                </a:lnTo>
                <a:lnTo>
                  <a:pt x="0" y="0"/>
                </a:lnTo>
                <a:lnTo>
                  <a:pt x="0" y="6234930"/>
                </a:lnTo>
                <a:close/>
              </a:path>
            </a:pathLst>
          </a:custGeom>
          <a:blipFill>
            <a:blip r:embed="rId2"/>
            <a:stretch>
              <a:fillRect l="-5409" r="-5409" b="-2043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93371" y="2679659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8" y="0"/>
                </a:lnTo>
                <a:lnTo>
                  <a:pt x="11301258" y="6272198"/>
                </a:lnTo>
                <a:lnTo>
                  <a:pt x="0" y="6272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91000" y="571500"/>
            <a:ext cx="8592324" cy="1009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 dirty="0">
                <a:solidFill>
                  <a:srgbClr val="3275C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Sequence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329418" y="-572496"/>
            <a:ext cx="11434572" cy="11434527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0409" r="-2945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770597" y="6314302"/>
            <a:ext cx="3144637" cy="520282"/>
            <a:chOff x="0" y="0"/>
            <a:chExt cx="1250766" cy="206940"/>
          </a:xfrm>
        </p:grpSpPr>
        <p:sp>
          <p:nvSpPr>
            <p:cNvPr id="5" name="Freeform 5"/>
            <p:cNvSpPr/>
            <p:nvPr/>
          </p:nvSpPr>
          <p:spPr>
            <a:xfrm>
              <a:off x="13485" y="0"/>
              <a:ext cx="1223797" cy="206940"/>
            </a:xfrm>
            <a:custGeom>
              <a:avLst/>
              <a:gdLst/>
              <a:ahLst/>
              <a:cxnLst/>
              <a:rect l="l" t="t" r="r" b="b"/>
              <a:pathLst>
                <a:path w="1223797" h="206940">
                  <a:moveTo>
                    <a:pt x="214334" y="0"/>
                  </a:moveTo>
                  <a:lnTo>
                    <a:pt x="1212662" y="0"/>
                  </a:lnTo>
                  <a:cubicBezTo>
                    <a:pt x="1216822" y="0"/>
                    <a:pt x="1220577" y="2496"/>
                    <a:pt x="1222187" y="6333"/>
                  </a:cubicBezTo>
                  <a:cubicBezTo>
                    <a:pt x="1223796" y="10170"/>
                    <a:pt x="1222947" y="14598"/>
                    <a:pt x="1220032" y="17567"/>
                  </a:cubicBezTo>
                  <a:lnTo>
                    <a:pt x="1051330" y="189373"/>
                  </a:lnTo>
                  <a:cubicBezTo>
                    <a:pt x="1040297" y="200610"/>
                    <a:pt x="1025210" y="206940"/>
                    <a:pt x="1009462" y="206940"/>
                  </a:cubicBezTo>
                  <a:lnTo>
                    <a:pt x="11134" y="206940"/>
                  </a:lnTo>
                  <a:cubicBezTo>
                    <a:pt x="6974" y="206940"/>
                    <a:pt x="3219" y="204444"/>
                    <a:pt x="1609" y="200607"/>
                  </a:cubicBezTo>
                  <a:cubicBezTo>
                    <a:pt x="0" y="196770"/>
                    <a:pt x="849" y="192342"/>
                    <a:pt x="3764" y="189373"/>
                  </a:cubicBezTo>
                  <a:lnTo>
                    <a:pt x="172466" y="17567"/>
                  </a:lnTo>
                  <a:cubicBezTo>
                    <a:pt x="183499" y="6330"/>
                    <a:pt x="198586" y="0"/>
                    <a:pt x="214334" y="0"/>
                  </a:cubicBezTo>
                  <a:close/>
                </a:path>
              </a:pathLst>
            </a:custGeom>
            <a:solidFill>
              <a:srgbClr val="64CA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19050"/>
              <a:ext cx="1047566" cy="187890"/>
            </a:xfrm>
            <a:prstGeom prst="rect">
              <a:avLst/>
            </a:prstGeom>
          </p:spPr>
          <p:txBody>
            <a:bodyPr lIns="83282" tIns="83282" rIns="83282" bIns="83282" rtlCol="0" anchor="ctr"/>
            <a:lstStyle/>
            <a:p>
              <a:pPr algn="ctr">
                <a:lnSpc>
                  <a:spcPts val="19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337859" y="4517044"/>
            <a:ext cx="7004506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9"/>
              </a:lnSpc>
            </a:pPr>
            <a:r>
              <a:rPr lang="en-US" sz="11999" b="1">
                <a:solidFill>
                  <a:srgbClr val="3275C5"/>
                </a:solidFill>
                <a:latin typeface="Dynamo Medium"/>
                <a:ea typeface="Dynamo Medium"/>
                <a:cs typeface="Dynamo Medium"/>
                <a:sym typeface="Dynamo Medium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70597" y="4517044"/>
            <a:ext cx="3440472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9"/>
              </a:lnSpc>
            </a:pPr>
            <a:r>
              <a:rPr lang="en-US" sz="11999" b="1" spc="47">
                <a:solidFill>
                  <a:srgbClr val="56AAF0"/>
                </a:solidFill>
                <a:latin typeface="Dynamo Medium"/>
                <a:ea typeface="Dynamo Medium"/>
                <a:cs typeface="Dynamo Medium"/>
                <a:sym typeface="Dynamo Medium"/>
              </a:rPr>
              <a:t>YOU</a:t>
            </a:r>
          </a:p>
        </p:txBody>
      </p:sp>
      <p:sp>
        <p:nvSpPr>
          <p:cNvPr id="9" name="Freeform 9"/>
          <p:cNvSpPr/>
          <p:nvPr/>
        </p:nvSpPr>
        <p:spPr>
          <a:xfrm rot="5672158" flipV="1">
            <a:off x="11952123" y="2203250"/>
            <a:ext cx="12670391" cy="6611640"/>
          </a:xfrm>
          <a:custGeom>
            <a:avLst/>
            <a:gdLst/>
            <a:ahLst/>
            <a:cxnLst/>
            <a:rect l="l" t="t" r="r" b="b"/>
            <a:pathLst>
              <a:path w="12670391" h="6611640">
                <a:moveTo>
                  <a:pt x="0" y="6611641"/>
                </a:moveTo>
                <a:lnTo>
                  <a:pt x="12670390" y="6611641"/>
                </a:lnTo>
                <a:lnTo>
                  <a:pt x="12670390" y="0"/>
                </a:lnTo>
                <a:lnTo>
                  <a:pt x="0" y="0"/>
                </a:lnTo>
                <a:lnTo>
                  <a:pt x="0" y="6611641"/>
                </a:lnTo>
                <a:close/>
              </a:path>
            </a:pathLst>
          </a:custGeom>
          <a:blipFill>
            <a:blip r:embed="rId3">
              <a:alphaModFix amt="8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556641">
            <a:off x="8984230" y="1427853"/>
            <a:ext cx="12716270" cy="6635581"/>
          </a:xfrm>
          <a:custGeom>
            <a:avLst/>
            <a:gdLst/>
            <a:ahLst/>
            <a:cxnLst/>
            <a:rect l="l" t="t" r="r" b="b"/>
            <a:pathLst>
              <a:path w="12716270" h="6635581">
                <a:moveTo>
                  <a:pt x="0" y="0"/>
                </a:moveTo>
                <a:lnTo>
                  <a:pt x="12716270" y="0"/>
                </a:lnTo>
                <a:lnTo>
                  <a:pt x="12716270" y="6635581"/>
                </a:lnTo>
                <a:lnTo>
                  <a:pt x="0" y="66355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281</Words>
  <Application>Microsoft Office PowerPoint</Application>
  <PresentationFormat>Custom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Dynamo Medium</vt:lpstr>
      <vt:lpstr>Source Sans Pro Bold</vt:lpstr>
      <vt:lpstr>Canva Sans Bold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Modern Minimalist Business Proposal Presentation</dc:title>
  <dc:creator>Srija V</dc:creator>
  <cp:lastModifiedBy>Srija V</cp:lastModifiedBy>
  <cp:revision>4</cp:revision>
  <dcterms:created xsi:type="dcterms:W3CDTF">2006-08-16T00:00:00Z</dcterms:created>
  <dcterms:modified xsi:type="dcterms:W3CDTF">2025-08-19T05:03:13Z</dcterms:modified>
  <dc:identifier>DAGvOBR3nlY</dc:identifier>
</cp:coreProperties>
</file>